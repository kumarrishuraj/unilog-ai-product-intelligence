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71" r:id="rId7"/>
    <p:sldId id="272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3" r:id="rId17"/>
    <p:sldId id="274" r:id="rId18"/>
    <p:sldId id="268" r:id="rId19"/>
    <p:sldId id="269" r:id="rId20"/>
    <p:sldId id="270" r:id="rId2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Google Sans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3f97113ba4d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f97113ba4d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g3f97113ba4d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3f97113ba4d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g3f97113ba4d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g3f97113ba4d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g3f97113ba4d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f97113ba4d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g3f97113ba4d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3f97113ba4d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3f97113ba4d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f97113ba4d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g3f97113ba4d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f97113ba4d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GB" sz="4000" b="1" i="0" u="none" strike="noStrike" cap="non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sz="4000" b="1" i="0" u="none" strike="noStrike" cap="non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457200" y="3127248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500" b="1">
                <a:solidFill>
                  <a:srgbClr val="131A21"/>
                </a:solidFill>
                <a:latin typeface="Google Sans"/>
              </a:rPr>
              <a:t>Team Details</a:t>
            </a:r>
            <a:endParaRPr sz="1800" b="1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457200" y="3621024"/>
            <a:ext cx="8229600" cy="131673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name:  [ TO BE FILLED BY TEAM ]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leader:  [ TO BE FILLED BY TEAM ]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members:  [ TO BE FILLED BY TEAM ]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4590288"/>
            <a:ext cx="8229600" cy="34747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2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Problem statement:  Unilog AI Product Intelligence — turn minimal, messy product data into a commerce-ready 252-column catalogue record.</a:t>
            </a:r>
          </a:p>
          <a:p>
            <a:pPr lvl="1">
              <a:spcAft>
                <a:spcPts val="2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Submission:  a working, tested system, not a mockup — 1,000 products enriched end to end, 136/136 tests passing.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Brief about your solution</a:t>
            </a:r>
            <a:endParaRPr sz="180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Problem → Solution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THE PROBLEM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7200" y="1627632"/>
            <a:ext cx="4005072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Supplier feeds give 6 columns — and lie in 3 of them.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'-- Unbranded --' is a sentinel, not a brand. Treating it as data corrupts 799 of 1,000 rows.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'Appliance Dealers Cooperative' is a buying co-op, not a manufacturer.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No voltage, no dimensions, no material, no certifications.</a:t>
            </a:r>
          </a:p>
          <a:p>
            <a:pPr>
              <a:spcAft>
                <a:spcPts val="400"/>
              </a:spcAft>
            </a:pPr>
            <a:endParaRPr sz="850" b="0">
              <a:solidFill>
                <a:srgbClr val="5C6B75"/>
              </a:solidFill>
              <a:latin typeface="Google Sans"/>
            </a:endParaRPr>
          </a:p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Commerce needs 252 validated columns.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Doing it by hand does not scale. Doing it with a raw LLM hallucinates and cannot be audited.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2F7D4F"/>
                </a:solidFill>
                <a:latin typeface="Google Sans"/>
              </a:rPr>
              <a:t>OUR SOLUTION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1627632"/>
            <a:ext cx="4005072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An evidence-grounded enrichment pipeline.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Deterministic core, AI only where it genuinely helps, evidence attached to every value.</a:t>
            </a:r>
          </a:p>
          <a:p>
            <a:pPr>
              <a:spcAft>
                <a:spcPts val="400"/>
              </a:spcAft>
            </a:pPr>
            <a:endParaRPr sz="850" b="0">
              <a:solidFill>
                <a:srgbClr val="5C6B75"/>
              </a:solidFill>
              <a:latin typeface="Google Sans"/>
            </a:endParaRP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131A21"/>
                </a:solidFill>
                <a:latin typeface="Google Sans"/>
              </a:rPr>
              <a:t>One rule shapes the whole design: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A value is published only if it comes from the input, an approved vocabulary, manufacturer evidence, or a deterministic transformation.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Anything else is left blank, flagged, and sent to a human.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57200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1,000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products enriched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25065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7.7 s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wall clock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792931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failures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60796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252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output columns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128662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136/136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tests passing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>
            <a:spLocks noGrp="1"/>
          </p:cNvSpPr>
          <p:nvPr>
            <p:ph type="ctrTitle"/>
          </p:nvPr>
        </p:nvSpPr>
        <p:spPr>
          <a:xfrm>
            <a:off x="457200" y="676656"/>
            <a:ext cx="8229600" cy="6035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1 · How the solution enriches minimal product information</a:t>
            </a:r>
            <a:endParaRPr sz="1200"/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From 6 messy columns to a validated 252-column record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57200" y="1389888"/>
            <a:ext cx="3968496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03504" y="1481328"/>
            <a:ext cx="3675887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5C6B75"/>
                </a:solidFill>
                <a:latin typeface="Google Sans"/>
              </a:rPr>
              <a:t>INPUT  ·  WHAT THE FEED GIVES US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1792" y="1719072"/>
            <a:ext cx="3639312" cy="131673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50"/>
              </a:spcAft>
            </a:pPr>
            <a:r>
              <a:rPr sz="819" b="0">
                <a:solidFill>
                  <a:srgbClr val="131A21"/>
                </a:solidFill>
                <a:latin typeface="Google Sans"/>
              </a:rPr>
              <a:t>WDTS7024RZ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5C6B75"/>
                </a:solidFill>
                <a:latin typeface="Google Sans"/>
              </a:rPr>
              <a:t>WDTS7024RZ Dishwasher SS - Display Only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E1_Brand         -- Unbranded --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Unilog_Brand   -- No Unilog Brand --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DIB_Brand       -- No DIB Brand --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5C6B75"/>
                </a:solidFill>
                <a:latin typeface="Google Sans"/>
              </a:rPr>
              <a:t>Part_Manuf     Appliance Dealers Cooperative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718304" y="1389888"/>
            <a:ext cx="3968496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4864608" y="1481328"/>
            <a:ext cx="3675887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OUTPUT  ·  EXCERPT OF 252 COLUMNS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82896" y="1719072"/>
            <a:ext cx="3639312" cy="131673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Classpath → Kitchen Appliances&gt;Built-In Dishwashers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Product Name → Dishwasher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Material → Stainless Steel  (SS via LOV synonym)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2F7D4F"/>
                </a:solidFill>
                <a:latin typeface="Google Sans"/>
              </a:rPr>
              <a:t>INVOICE_DESC → DISHWASHER BLTLN SST SST 120V 10A 41DBA</a:t>
            </a:r>
          </a:p>
          <a:p>
            <a:pPr lvl="1">
              <a:spcAft>
                <a:spcPts val="150"/>
              </a:spcAft>
            </a:pPr>
            <a:r>
              <a:rPr sz="690" b="0">
                <a:solidFill>
                  <a:srgbClr val="A33A32"/>
                </a:solidFill>
                <a:latin typeface="Google Sans"/>
              </a:rPr>
              <a:t>BRAND_NAME → blank, flagged  (no evidence offline)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7200" y="3218688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HOW  ·  SEVEN DETERMINISTIC MOVES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57200" y="3438144"/>
            <a:ext cx="4023360" cy="1499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1  Detect placeholders before anything else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2  Resolve entities — 6-stage cascade, margin tests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3  Classify — 36 leaves, explainable keyword scoring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4  Retrieve category-scoped vocabulary shortlist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18304" y="3438144"/>
            <a:ext cx="4023360" cy="1499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5  Extract attributes — LOV → regex → dimension chain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6  Normalise — 50.25 → 50-1/4,  inches → in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7  Generate copy from a verified fact sheet only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7200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classified to a real category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42032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87.5%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brand resolved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626864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of rows get 5 description fields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11696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751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RAG documents indexed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2 · How the solution ensures accuracy and trust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Five independent layers — every one measurable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65760" y="1389888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2F7D4F"/>
                </a:solidFill>
                <a:latin typeface="Google Sans"/>
              </a:rPr>
              <a:t>Rule-based validation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0320" y="1453896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8 check groups: schema · character limits · casing · UOM approval · vocabulary · required fields · evidence · consistency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11696" y="1389888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94.7% of rows pass with zero errors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65760" y="2066543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2F7D4F"/>
                </a:solidFill>
                <a:latin typeface="Google Sans"/>
              </a:rPr>
              <a:t>Controlled vocabulary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60320" y="2130551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An unapproved value is an ERROR. The self-correction loop clears it rather than publishing it.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11696" y="2066543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100% LOV compliance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65760" y="2743200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0F6E77"/>
                </a:solidFill>
                <a:latin typeface="Google Sans"/>
              </a:rPr>
              <a:t>Evidence / provenance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560320" y="2807208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Every value stores source + transformation + confidence + validation status. Fully auditable.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711696" y="2743200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100% evidence coverage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65760" y="3419856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0F6E77"/>
                </a:solidFill>
                <a:latin typeface="Google Sans"/>
              </a:rPr>
              <a:t>Confidence scoring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560320" y="3483864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Six weighted components; validation failure is a multiplicative gate, not a subtraction.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711696" y="3419856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mean 72.7%, banded HIGH→UNKNOWN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65760" y="4096512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A33A32"/>
                </a:solidFill>
                <a:latin typeface="Google Sans"/>
              </a:rPr>
              <a:t>Human review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560320" y="4160520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Low confidence or unresolved evidence routes out with a specific, actionable reason — never a generic bucket.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11696" y="4096512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467 rows queued (46.7%)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7200" y="4809744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0">
                <a:solidFill>
                  <a:srgbClr val="5C6B75"/>
                </a:solidFill>
                <a:latin typeface="Google Sans"/>
              </a:rPr>
              <a:t>AI validation is deliberately NOT used here: a verdict must be reproducible, and a sampled model cannot guarantee the same record yields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3 · What makes it scalable for enterprise catalogs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Large catalogues · new manufacturers · new formats · continuous updates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LARGE CATALOGUES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7200" y="1609344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130 rows/s offline, 0 failures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Extraction cached by (category, description) — colour/length variant families cost one extraction, not 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Per-row isolation: a malformed row is a FAILED record, never a dead batch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Thread pool engages when research or LLM I/O is 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NEW MANUFACTURERS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81728" y="1609344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Masters are mined from the feed itself — co-occurrence recovered Diablo→Freud, Carlon→Thomas &amp; Betts with no configuration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Part-number prefix learning generalises to unbranded siblings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Distributor detection via brand fan-out, so co-ops are never published as the manufacturer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7200" y="3200400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DIFFERENT DOCUMENT FORMATS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3419856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CSV · XLSX · DOCX ingestion with header sniffing, merged-cell handling and multi-row header detection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Output schema is READ from the delivery template — a revised 252-column spec needs no code change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Reference workbooks discovered by filename pattern, not hard-coded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81728" y="3200400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CONTINUOUS UPDATES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81728" y="3419856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12 independently toggleable stages — re-run only what changed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Content-addressed prompt cache survives restarts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Every human override is stored with provenance: a labelled pair for threshold tuning and synonym mining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Opportunities · Differentiation · USP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Why this is not another LLM wrapper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57200" y="1389888"/>
            <a:ext cx="3931920" cy="475488"/>
          </a:xfrm>
          <a:prstGeom prst="rect">
            <a:avLst/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TYPICAL APPROACH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1938528"/>
            <a:ext cx="37490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A33A32"/>
                </a:solidFill>
                <a:latin typeface="Google Sans"/>
              </a:rPr>
              <a:t>Input → LLM → Output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Hallucinates specifications that were never stated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No audit trail — cannot answer 'why does it say this?'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No vocabulary control; free-text values break filtering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Accuracy looks high until it meets unseen data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754880" y="1389888"/>
            <a:ext cx="3931920" cy="475488"/>
          </a:xfrm>
          <a:prstGeom prst="rect">
            <a:avLst/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OUR APPROACH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64608" y="1938528"/>
            <a:ext cx="37490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2F7D4F"/>
                </a:solidFill>
                <a:latin typeface="Google Sans"/>
              </a:rPr>
              <a:t>The model is caged inside deterministic stages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description generator never sees raw text — only resolved entities and extracted attributes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It is structurally incapable of inventing a fact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Unknown → blank + flagged, never a plausible guess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Runs and reports honestly with no API key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341985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50" b="1">
                <a:solidFill>
                  <a:srgbClr val="0F6E77"/>
                </a:solidFill>
                <a:latin typeface="Google Sans"/>
              </a:rPr>
              <a:t>USP  —  THREE THINGS NOBODY ELSE IS DOING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57200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Provable fidelity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3776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Reproduces both labelled rows character-for-character across all 10 description fields — including a 390-character long description. Asserted in tests, not eyeballed.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236976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Honest by construction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273552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Reports which reference tier is live (official / derived / seed / computed) and refuses to overstate it. Blank-and-flagged beats a confident guess.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016752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Offline-first, AI-optional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053328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Every AI stage has a deterministic fallback, so all reported metrics are reproducible with no key and no network.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457200" y="676656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Features offered by the solution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457200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0F6E77"/>
                </a:solidFill>
                <a:latin typeface="Google Sans"/>
              </a:rPr>
              <a:t>INGEST &amp; CLEAN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7200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Input profiling: fill rates, duplicates, encoding damage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Placeholder-sentinel detection (799 rows protected)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Mojibake repair, whitespace and casing normalisation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19272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RESOLVE &amp; CLASSIFY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319272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6-stage entity cascade with ambiguity margin tests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Distributor / buying-co-op detection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36 taxonomy leaves, explainable keyword scoring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Corpus part-number prefix learning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181344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EXTRACT &amp; NORMALISE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81344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323 controlled values, 68 approved UOM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Exact fraction ladder to 1/64  (50.25 → 50-1/4)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Ordered dimension chains  (5"x.045"x7/8")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7200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8A6410"/>
                </a:solidFill>
                <a:latin typeface="Google Sans"/>
              </a:rPr>
              <a:t>AI &amp; RETRIEVAL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RAG: 7 collections, 751 documents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Adaptive category-scoped shortlist — never the whole vocabulary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 guarded LLM call sites, each with a fallback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319272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GENERATE &amp; VALIDATE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19272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6 description fields from a verified fact sheet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8 validation check groups + self-correction loop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Character limits, casing, UOM and vocabulary enforcement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181344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A33A32"/>
                </a:solidFill>
                <a:latin typeface="Google Sans"/>
              </a:rPr>
              <a:t>TRUST &amp; OPERATE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181344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Evidence graph — every value traced end to end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Confidence bands + human review queue with overrides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CSV / XLSX export, 15 REST endpoints, 7-page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Process flow  ·  one row, end to end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12 toggleable stages · per-row isolation · two possible exits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4048" y="1298448"/>
            <a:ext cx="84124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one catalogue row, end to end   ·   green = deterministic   amber = AI-assisted with fallback   red = human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84048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Profile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&amp; clean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68249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180136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Resolve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entities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09981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321868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Parse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product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4517136" y="1874519"/>
            <a:ext cx="118871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463600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Classify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category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593445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605332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Retrieve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LOV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7351775" y="1874519"/>
            <a:ext cx="118873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ounded Rectangle 148"/>
          <p:cNvSpPr/>
          <p:nvPr/>
        </p:nvSpPr>
        <p:spPr>
          <a:xfrm>
            <a:off x="747064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Extract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attributes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84048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Normalise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fractions · UOM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68249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unded Rectangle 151"/>
          <p:cNvSpPr/>
          <p:nvPr/>
        </p:nvSpPr>
        <p:spPr>
          <a:xfrm>
            <a:off x="180136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Research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manufacturer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309981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321868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Generate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descriptions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517136" y="2880360"/>
            <a:ext cx="118871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ounded Rectangle 155"/>
          <p:cNvSpPr/>
          <p:nvPr/>
        </p:nvSpPr>
        <p:spPr>
          <a:xfrm>
            <a:off x="463600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Validate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+ self-correct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93445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605332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Score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confidence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7351775" y="2880360"/>
            <a:ext cx="118873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747064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Route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68895" y="2194560"/>
            <a:ext cx="1600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r"/>
            <a:r>
              <a:rPr sz="700" b="0">
                <a:solidFill>
                  <a:srgbClr val="5C6B75"/>
                </a:solidFill>
                <a:latin typeface="Google Sans"/>
              </a:rPr>
              <a:t>continues below  ↴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108960" y="3566160"/>
            <a:ext cx="2606040" cy="47548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PUBLISH  ·  533 rows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252-column delivery record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897880" y="3566160"/>
            <a:ext cx="2606040" cy="475488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HUMAN REVIEW  ·  467 rows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specific, actionable reason each</a:t>
            </a:r>
          </a:p>
        </p:txBody>
      </p:sp>
      <p:cxnSp>
        <p:nvCxnSpPr>
          <p:cNvPr id="164" name="Connector 163"/>
          <p:cNvCxnSpPr/>
          <p:nvPr/>
        </p:nvCxnSpPr>
        <p:spPr>
          <a:xfrm flipH="1">
            <a:off x="5029200" y="3145536"/>
            <a:ext cx="1920240" cy="420624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7589520" y="3145536"/>
            <a:ext cx="0" cy="420624"/>
          </a:xfrm>
          <a:prstGeom prst="line">
            <a:avLst/>
          </a:prstGeom>
          <a:ln w="15875">
            <a:solidFill>
              <a:srgbClr val="A33A3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384048" y="3657600"/>
            <a:ext cx="25603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Nothing is guessed:
an unresolved field is left
blank and flagged.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AI · RAG · enrichment pipeline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Where the model is allowed to act — and what stops it inventing facts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1243584"/>
            <a:ext cx="832104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the model may STRUCTURE information — it may never ADD it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57200" y="1517904"/>
            <a:ext cx="1874519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131A21"/>
                </a:solidFill>
                <a:latin typeface="Google Sans"/>
              </a:rPr>
              <a:t>Raw row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6 columns, 3 placeholders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57200" y="2194560"/>
            <a:ext cx="1874519" cy="1371600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0F6E77"/>
                </a:solidFill>
                <a:latin typeface="Google Sans"/>
              </a:rPr>
              <a:t>RAG COLLECTIONS</a:t>
            </a:r>
          </a:p>
          <a:p>
            <a:pPr algn="ctr"/>
            <a:endParaRPr sz="850" b="1">
              <a:solidFill>
                <a:srgbClr val="0F6E77"/>
              </a:solidFill>
              <a:latin typeface="Google Sans"/>
            </a:endParaRP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manufacturer + brand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global LOV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UOM standards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guidelines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examples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fittings · faucets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3602736"/>
            <a:ext cx="1874519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00" b="0">
                <a:solidFill>
                  <a:srgbClr val="5C6B75"/>
                </a:solidFill>
                <a:latin typeface="Google Sans"/>
              </a:rPr>
              <a:t>751 documents · filter BEFORE rank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97480" y="151790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1  Product parser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52344" y="192024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when the row is opaque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697480" y="21031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every returned token must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appear in the source text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697480" y="261518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2  Taxonomy tie-break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752344" y="301752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on ambiguity — 53 of 1,000 rows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697480" y="320040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must pick a supplied id or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'none'; confidence capped at 0.72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97480" y="371246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3  LOV rescue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752344" y="411480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when a value misses the vocabulary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697480" y="429768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only an exact alias inside the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same attribute is applied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2331720" y="1764792"/>
            <a:ext cx="365760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331720" y="2798064"/>
            <a:ext cx="365760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/>
          <p:cNvSpPr/>
          <p:nvPr/>
        </p:nvSpPr>
        <p:spPr>
          <a:xfrm>
            <a:off x="6108192" y="1517904"/>
            <a:ext cx="2578608" cy="731520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2F7D4F"/>
                </a:solidFill>
                <a:latin typeface="Google Sans"/>
              </a:rPr>
              <a:t>VERIFIED FACT SHEET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resolved entities + extracted attributes only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943600" y="1883664"/>
            <a:ext cx="164592" cy="0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108192" y="2432304"/>
            <a:ext cx="2578608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131A21"/>
                </a:solidFill>
                <a:latin typeface="Google Sans"/>
              </a:rPr>
              <a:t>Description generator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never sees raw text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7397496" y="2249424"/>
            <a:ext cx="0" cy="182880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6108192" y="3273552"/>
            <a:ext cx="2578608" cy="658368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A33A32"/>
                </a:solidFill>
                <a:latin typeface="Google Sans"/>
              </a:rPr>
              <a:t>Validate → self-correct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confidence → review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7397496" y="3090672"/>
            <a:ext cx="0" cy="182880"/>
          </a:xfrm>
          <a:prstGeom prst="line">
            <a:avLst/>
          </a:prstGeom>
          <a:ln w="15875">
            <a:solidFill>
              <a:srgbClr val="A33A3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/>
        </p:nvSpPr>
        <p:spPr>
          <a:xfrm>
            <a:off x="6108192" y="3986784"/>
            <a:ext cx="2578608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Result: the generator is structurally
incapable of inventing a 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System architecture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Interface → orchestration → agents → knowledge, with evidence throughout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every AI stage has a deterministic fallback — the system runs and reports honestly with no API key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17099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INTERFACE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48132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React + Tailwind dashboard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7 pages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32155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FastAPI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15 endpoints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6178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CLI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run · demo · benchmark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00201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Export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CSV · XLSX · review queue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7200" y="23957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ORCHESTRATION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481328" y="2231136"/>
            <a:ext cx="726948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131A21"/>
                </a:solidFill>
                <a:latin typeface="Google Sans"/>
              </a:rPr>
              <a:t>Two-pass corpus-aware orchestrator   ·   12 toggleable stages   ·   per-row isolation   ·   extraction cache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57200" y="30815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AGENTS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48132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Product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Parser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401443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Manufacturer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Resolver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32155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Brand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Resolver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241673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Taxonomy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16178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Attribute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81902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Research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002017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Description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922132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Validation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3794760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KNOWLEDGE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148132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RAG retrieval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7 collections · 751 docs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32155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Reference registry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official → derived → seed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16178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Normalisation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fractions · UOM · casing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00201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LLM client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strict JSON · cache · offline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481328" y="4315968"/>
            <a:ext cx="726948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131A21"/>
                </a:solidFill>
                <a:latin typeface="Google Sans"/>
              </a:rPr>
              <a:t>EVIDENCE  ·  every value carries source + transformation + confidence + validation status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4416552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TRACE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457200" y="676656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Technologies used in the solution</a:t>
            </a:r>
            <a:endParaRPr sz="12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457200" y="1170432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Backend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60320" y="1216152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Python 3.13 · FastAPI · Pydantic · pandas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57200" y="1572768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Entity matching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60320" y="1618488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RapidFuzz token-set similarity with margin tests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" y="1975104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Retrieval / RAG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560320" y="2020824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scikit-learn TF-IDF, word + character n-grams  (FAISS/Chroma seam documented)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2377440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Data I/O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560320" y="2423160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openpyxl · XlsxWriter · python-docx  (merged cells, multi-row headers)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57200" y="2779776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AI layer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560320" y="2825496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Provider-agnostic client — Anthropic / OpenAI · strict JSON schemas · local repair · prompt-hash cache · offline mode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" y="3182112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Research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560320" y="3227832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httpx behind a source-hierarchy gate  (Tavily / Serper pluggable)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57200" y="3584448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Frontend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560320" y="3630168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React 18 · Vite · Tailwind CSS · Recharts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57200" y="3986784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Quality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560320" y="4032504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pytest — 136 tests, all passing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57200" y="4389120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Delivery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560320" y="4434840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Docker + docker-compose · CLI · 15 REST endpoints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4846320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Deliberate choice: TF-IDF with character n-grams beats sentence embeddings on short controlled vocabulary ('Kitchen Aid' / 'KitchenAid'), needs no model download, and is exactly reproducible in any environment.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Estimated implementation cost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The architecture is cheap by design — deterministic first, AI last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$0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to run the current build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542032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~$1–2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per 1,000 rows with LLM on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626864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free tier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search API covers a pilot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11696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 vCPU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no GPU, no model hosting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231136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WHY IT COSTS SO LITTLE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2468880"/>
            <a:ext cx="4005072" cy="24688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Everything measured in this deck ran with no API key and no network — the deterministic core does the work.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The model is a tie-breaker, not the classifier: it is consulted on 53 of 1,000 rows (~5%).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Extraction is cached by (category, description); variant families cost one extraction, not N.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Prompts are content-addressed and cached on disk across restarts.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TF-IDF retrieval needs no embedding API and no GPU.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681728" y="2231136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2F7D4F"/>
                </a:solidFill>
                <a:latin typeface="Google Sans"/>
              </a:rPr>
              <a:t>SCALING ESTIMATE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81728" y="2468880"/>
            <a:ext cx="4005072" cy="24688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100k products, deterministic only:  ~10 minutes, $0.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100k products with LLM tie-break on ~5%:  roughly $100–200 in tokens, one-off.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Re-runs are near-free: cache hits and stage toggles mean only what changed is recomputed.</a:t>
            </a:r>
          </a:p>
          <a:p>
            <a:pPr>
              <a:spcAft>
                <a:spcPts val="400"/>
              </a:spcAft>
            </a:pPr>
            <a:endParaRPr sz="850" b="0">
              <a:solidFill>
                <a:srgbClr val="5C6B75"/>
              </a:solidFill>
              <a:latin typeface="Google Sans"/>
            </a:endParaRP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Infrastructure: a single container. No vector DB, no GPU, no model hosting required at this scale.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681728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Token figures are public list-price estimates for the stated volume, not measured spend — the current build has made zero paid API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Snapshots of the MVP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Real screenshots of the running system — captured from this build, enriching 1,000 products</a:t>
            </a:r>
          </a:p>
        </p:txBody>
      </p:sp>
      <p:pic>
        <p:nvPicPr>
          <p:cNvPr id="168" name="Picture 167" descr="01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69" name="TextBox 168"/>
          <p:cNvSpPr txBox="1"/>
          <p:nvPr/>
        </p:nvSpPr>
        <p:spPr>
          <a:xfrm>
            <a:off x="292608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Dashboard — live quality gates, confidence bands, provenance</a:t>
            </a:r>
          </a:p>
        </p:txBody>
      </p:sp>
      <p:pic>
        <p:nvPicPr>
          <p:cNvPr id="170" name="Picture 169" descr="02_produ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71" name="TextBox 170"/>
          <p:cNvSpPr txBox="1"/>
          <p:nvPr/>
        </p:nvSpPr>
        <p:spPr>
          <a:xfrm>
            <a:off x="4663440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Products — searchable, per-row confidence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2608" y="4315968"/>
            <a:ext cx="8558784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20" b="0">
                <a:solidFill>
                  <a:srgbClr val="5C6B75"/>
                </a:solidFill>
                <a:latin typeface="Google Sans"/>
              </a:rPr>
              <a:t>Left: quality gates, confidence distribution and live reference provenance for the full run.   Right: every product with its confidence band and attribute fill, searchable and filterable.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MVP · explainability and human-in-the-loop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Every value answers 'why does it say this?' in one click</a:t>
            </a:r>
          </a:p>
        </p:txBody>
      </p:sp>
      <p:pic>
        <p:nvPicPr>
          <p:cNvPr id="127" name="Picture 126" descr="04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28" name="TextBox 127"/>
          <p:cNvSpPr txBox="1"/>
          <p:nvPr/>
        </p:nvSpPr>
        <p:spPr>
          <a:xfrm>
            <a:off x="292608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Evidence graph — every value traced to its source</a:t>
            </a:r>
          </a:p>
        </p:txBody>
      </p:sp>
      <p:pic>
        <p:nvPicPr>
          <p:cNvPr id="129" name="Picture 128" descr="06_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30" name="TextBox 129"/>
          <p:cNvSpPr txBox="1"/>
          <p:nvPr/>
        </p:nvSpPr>
        <p:spPr>
          <a:xfrm>
            <a:off x="4663440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Human review — one row per actionable issue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92608" y="4315968"/>
            <a:ext cx="8558784" cy="62179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Evidence graph:  MANUFACTURER_NAME → Freud Inc  ·  transformation: 'Diablo' is owned by 'Freud Inc' per the brand master  ·  source: master data ·  confidence 85%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Review queue:  one row per specific issue, with the nearest approved value suggested and an inline override that writes back with full provenance.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Results  ·  measured, not estimated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Full 1,000-row run, no API key, no network — reproducible by anyone who clones the repo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1,000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products enriched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542032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7.7 s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wall clock · 130 rows/s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26864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processing failures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11696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136/136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tests passing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57200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classified to a real category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542032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LOV compliance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626864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evidence coverage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711696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character-limit compliance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57200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87.5%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brand resolved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542032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rows with zero validation errors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626864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72.7%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mean confidence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711696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751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RAG documents indexed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3986783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AGAINST THE LABELLED DELIVERY-FORMAT ROWS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7200" y="4224528"/>
            <a:ext cx="8229600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100% on Dept / Class / Fine, Classpath, Product Name, part number and every attribute label  ·  overall quality score 82.9%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description engine reproduces all 10 derivable fields character-for-character, including a 390-character long description.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Future development  ·  and what we are honest about today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Known limits stated plainly, with the fix for each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A33A32"/>
                </a:solidFill>
                <a:latin typeface="Google Sans"/>
              </a:rPr>
              <a:t>HONEST LIMITATIONS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1609344"/>
            <a:ext cx="400507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BRAND_NAME and ATTRIBUTE_VALUE score 0% against the labelled rows — because those facts are not in the input. The gold row has them because a human opened the manufacturer's website.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Offline the system refuses to invent them and flags the record. That is the no-hallucination rule working, and why review sits at 46.7% rather than a suspiciously low number.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official Unilog reference pack was not supplied with the dataset, so masters are mined from the feed and every surface reports which tier is live.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LLM path is wired, guarded and stub-tested, but has not yet run against a live model — the contract is proven, the quality is not.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NEXT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681728" y="1609344"/>
            <a:ext cx="400507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  Load the official reference pack — highest value, zero code change. Flips provenance to 'official' and unlocks the Faucets/Fittings categories.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2  Enable manufacturer research with a search key — closes the brand and attribute-value gap, roughly doubling populated columns.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3  Swap TF-IDF for embeddings once the full 161k-row vocabulary lands and semantic recall matters more than exactness.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4  Persist jobs in Postgres and move execution to a worker queue.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5  Learn from reviewer overrides — every correction is already stored with provenance, so each is a labelled training pair for threshold tuning and synonym mining.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Links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Repository · demo video · working prototype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7200" y="1389888"/>
            <a:ext cx="8229600" cy="80791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150" b="0" dirty="0">
                <a:solidFill>
                  <a:schemeClr val="tx1"/>
                </a:solidFill>
                <a:latin typeface="Google Sans"/>
              </a:rPr>
              <a:t>Working prototype:   https://unilog-product-intelligence.onrender.com</a:t>
            </a:r>
          </a:p>
          <a:p>
            <a:pPr>
              <a:spcAft>
                <a:spcPts val="900"/>
              </a:spcAft>
            </a:pPr>
            <a:r>
              <a:rPr sz="1150" b="0" dirty="0">
                <a:solidFill>
                  <a:srgbClr val="131A21"/>
                </a:solidFill>
                <a:latin typeface="Google Sans"/>
              </a:rPr>
              <a:t>GitHub public repository:   https://github.com/kumarrishuraj/unilog-ai-product-intelligence</a:t>
            </a:r>
          </a:p>
          <a:p>
            <a:pPr>
              <a:spcAft>
                <a:spcPts val="900"/>
              </a:spcAft>
            </a:pPr>
            <a:r>
              <a:rPr sz="1150" b="0" dirty="0">
                <a:solidFill>
                  <a:srgbClr val="131A21"/>
                </a:solidFill>
                <a:latin typeface="Google Sans"/>
              </a:rPr>
              <a:t>Demo video (3 minutes):   [ TO BE FILLED BY TEAM ]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223113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0">
                <a:solidFill>
                  <a:srgbClr val="5C6B75"/>
                </a:solidFill>
                <a:latin typeface="Google Sans"/>
              </a:rPr>
              <a:t>The prototype is live and offline-first — it needs no API key. Render's free tier sleeps after 15 minutes idle, so the first request may take ~50 s to wake it.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57200" y="268833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RUN IT LOCALLY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57200" y="2889504"/>
            <a:ext cx="82296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640080" y="2999232"/>
            <a:ext cx="786384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pip install -r requirements.txt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python scripts/run_pipeline.py --input data/raw/sample_1000_input.csv --format both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python evaluation/benchmark.py --labelled data/raw/delivery_format_labelled.csv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cd frontend &amp;&amp; npm install &amp;&amp; npm run build &amp;&amp; cd ..</a:t>
            </a:r>
          </a:p>
          <a:p>
            <a:pPr algn="l">
              <a:spcAft>
                <a:spcPts val="200"/>
              </a:spcAft>
            </a:pPr>
            <a:r>
              <a:rPr sz="850">
                <a:solidFill>
                  <a:srgbClr val="131A21"/>
                </a:solidFill>
                <a:latin typeface="Consolas"/>
              </a:rPr>
              <a:t>uvicorn backend.api.main:app --port 8000      →  http://127.0.0.1:8000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7200" y="433425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0">
                <a:solidFill>
                  <a:srgbClr val="5C6B75"/>
                </a:solidFill>
                <a:latin typeface="Google Sans"/>
              </a:rPr>
              <a:t>Walk one product through all eleven stages with its evidence:  python scripts/demo.py --mpn 49-94-0013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2751</Words>
  <Application>Microsoft Office PowerPoint</Application>
  <PresentationFormat>On-screen Show (16:9)</PresentationFormat>
  <Paragraphs>370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Google Sans</vt:lpstr>
      <vt:lpstr>Consolas</vt:lpstr>
      <vt:lpstr>Simple Light</vt:lpstr>
      <vt:lpstr>Simple Light</vt:lpstr>
      <vt:lpstr>PowerPoint Presentation</vt:lpstr>
      <vt:lpstr>PowerPoint Presentation</vt:lpstr>
      <vt:lpstr>PowerPoint Presentation</vt:lpstr>
      <vt:lpstr>1 · How the solution enriches minimal product information From 6 messy columns to a validated 252-column record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Risshuraj Kumar</cp:lastModifiedBy>
  <cp:revision>1</cp:revision>
  <dcterms:modified xsi:type="dcterms:W3CDTF">2026-08-23T13:05:17Z</dcterms:modified>
</cp:coreProperties>
</file>